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288" y="2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2086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8.png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03120"/>
            <a:ext cx="6400800" cy="6400800"/>
          </a:xfrm>
          <a:prstGeom prst="ellipse">
            <a:avLst/>
          </a:prstGeom>
          <a:solidFill>
            <a:srgbClr val="0A1D2E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188720"/>
            <a:ext cx="4572000" cy="4572000"/>
          </a:xfrm>
          <a:prstGeom prst="ellipse">
            <a:avLst/>
          </a:prstGeom>
          <a:solidFill>
            <a:srgbClr val="2F6E71"/>
          </a:solidFill>
          <a:ln/>
        </p:spPr>
      </p:sp>
      <p:sp>
        <p:nvSpPr>
          <p:cNvPr id="4" name="Shape 2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2F6E71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777240"/>
            <a:ext cx="749808" cy="749808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6" name="Image 0" descr="C:\Users\liyon\AppData\Local\Temp\claude\C--Users-liyon-Personal-MCA-PROJECT-drug-project--2--drug-project-drugrecomendation\9da8fb70-ea4c-4cf2-953c-5bcd9131f7d4\scratchpad\pptgen\icons\p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435" y="874715"/>
            <a:ext cx="554858" cy="554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 PROJECT PRESENTATION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331720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Recommendation</a:t>
            </a:r>
            <a:endParaRPr lang="en-US" sz="5000" dirty="0"/>
          </a:p>
          <a:p>
            <a:pPr marL="0" indent="0">
              <a:lnSpc>
                <a:spcPts val="54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AI-driven, symptom-based medicine recommendation platform with sentiment-analysed reviews and real-time doctor consultation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074920"/>
            <a:ext cx="2926080" cy="0"/>
          </a:xfrm>
          <a:prstGeom prst="line">
            <a:avLst/>
          </a:prstGeom>
          <a:noFill/>
          <a:ln w="12700">
            <a:solidFill>
              <a:srgbClr val="2B4A6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2578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Liyona Johny</a:t>
            </a: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(Reg. No. 2004425347)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55595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Jisha Soman</a:t>
            </a: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Dept. of Computer Applications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630936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6309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788920" y="630936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788920" y="6309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4.0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754880" y="630936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54880" y="6309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720840" y="630936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0840" y="6309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· Sentiment Analysis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Drug Recommendation System?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0F2A43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28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286000"/>
            <a:ext cx="4617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medication is complex — it depends on a patient's condition, history and side-effects. Physicians face an overwhelming volume of clinical data, while patients' own reviews go largely unused because reading them by hand doesn't scale.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960120" y="4114800"/>
            <a:ext cx="4526280" cy="0"/>
          </a:xfrm>
          <a:prstGeom prst="line">
            <a:avLst/>
          </a:prstGeom>
          <a:noFill/>
          <a:ln w="12700">
            <a:solidFill>
              <a:srgbClr val="244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297680"/>
            <a:ext cx="4617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emergencies — pandemics, floods, disasters — patients often can't reach a doctor at all. A data-driven system can recommend safe medication instantly, and still connect them to a real doctor by chat when they need one.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48640" cy="548640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10" name="Image 0" descr="C:\Users\liyon\AppData\Local\Temp\claude\C--Users-liyon-Personal-MCA-PROJECT-drug-project--2--drug-project-drugrecomendation\9da8fb70-ea4c-4cf2-953c-5bcd9131f7d4\scratchpad\pptgen\icons\bullsey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523" y="1671523"/>
            <a:ext cx="405994" cy="40599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903720" y="158191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Recommendations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03720" y="18928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 drug suggestions to patient-specific symptoms and review sentiment, not generic listings.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72200" y="2715768"/>
            <a:ext cx="548640" cy="548640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14" name="Image 1" descr="C:\Users\liyon\AppData\Local\Temp\claude\C--Users-liyon-Personal-MCA-PROJECT-drug-project--2--drug-project-drugrecomendation\9da8fb70-ea4c-4cf2-953c-5bcd9131f7d4\scratchpad\pptgen\icons\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3523" y="2787091"/>
            <a:ext cx="405994" cy="40599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903720" y="26974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Machine-Learning Driven Accuracy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903720" y="300837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real patient reviews with NLP so higher-rated medicines surface first.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172200" y="3831336"/>
            <a:ext cx="548640" cy="548640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18" name="Image 2" descr="C:\Users\liyon\AppData\Local\Temp\claude\C--Users-liyon-Personal-MCA-PROJECT-drug-project--2--drug-project-drugrecomendation\9da8fb70-ea4c-4cf2-953c-5bcd9131f7d4\scratchpad\pptgen\icons\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3523" y="3902659"/>
            <a:ext cx="405994" cy="40599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03720" y="381304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Telemedicine Support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6903720" y="4123944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patients consult specialised doctors in real time through built-in chat.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172200" y="4946904"/>
            <a:ext cx="548640" cy="548640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22" name="Image 3" descr="C:\Users\liyon\AppData\Local\Temp\claude\C--Users-liyon-Personal-MCA-PROJECT-drug-project--2--drug-project-drugrecomendation\9da8fb70-ea4c-4cf2-953c-5bcd9131f7d4\scratchpad\pptgen\icons\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3523" y="5018227"/>
            <a:ext cx="405994" cy="40599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903720" y="492861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&amp; Security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6903720" y="5239512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patient, doctor and company records reliable and access-controlled.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Systems vs. the Proposed Approach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F5F7FA"/>
          </a:solidFill>
          <a:ln w="12700">
            <a:solidFill>
              <a:srgbClr val="E3E8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4767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SYSTEMS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14400" y="2478024"/>
            <a:ext cx="100584" cy="100584"/>
          </a:xfrm>
          <a:prstGeom prst="ellipse">
            <a:avLst/>
          </a:prstGeom>
          <a:solidFill>
            <a:srgbClr val="B6BFC8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3682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WebMD / Drugs.com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2642616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drug information — no personalisation to the patient.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3364992"/>
            <a:ext cx="100584" cy="100584"/>
          </a:xfrm>
          <a:prstGeom prst="ellipse">
            <a:avLst/>
          </a:prstGeom>
          <a:solidFill>
            <a:srgbClr val="B6BFC8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25526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1mg / Netmeds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3529584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ordering only; still requires an existing prescription.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4251960"/>
            <a:ext cx="100584" cy="100584"/>
          </a:xfrm>
          <a:prstGeom prst="ellipse">
            <a:avLst/>
          </a:prstGeom>
          <a:solidFill>
            <a:srgbClr val="B6BFC8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41422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 Health (symptom checkers)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4416552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Assesses conditions but never suggests actual medication.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5138928"/>
            <a:ext cx="100584" cy="100584"/>
          </a:xfrm>
          <a:prstGeom prst="ellipse">
            <a:avLst/>
          </a:prstGeom>
          <a:solidFill>
            <a:srgbClr val="B6BFC8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0292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Practo-style telemedicine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53035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depends on a live doctor — no help when one isn't reachable.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1691640"/>
            <a:ext cx="5212080" cy="4434840"/>
          </a:xfrm>
          <a:prstGeom prst="roundRect">
            <a:avLst>
              <a:gd name="adj" fmla="val 1649"/>
            </a:avLst>
          </a:prstGeom>
          <a:solidFill>
            <a:srgbClr val="0F2A43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94767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29400" y="2478024"/>
            <a:ext cx="100584" cy="100584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23682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+ sentiment driven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0" y="2642616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NLTK-based analysis of patient reviews computes a live 1–5 star rating per medicine.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29400" y="3364992"/>
            <a:ext cx="100584" cy="100584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325526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Instant, always-available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0" y="3529584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don't wait on physician availability — critical during emergencies.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9400" y="4251960"/>
            <a:ext cx="100584" cy="100584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0" y="41422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doctor chat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0" y="4416552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still reach real specialists for cases the algorithm shouldn't decide alone.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629400" y="5138928"/>
            <a:ext cx="100584" cy="100584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50292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858000" y="53035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Separate, approval-gated portals for Admin, Company, Doctor and Patient.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E3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88236"/>
            <a:ext cx="566928" cy="566928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6" name="Image 0" descr="C:\Users\liyon\AppData\Local\Temp\claude\C--Users-liyon-Personal-MCA-PROJECT-drug-project--2--drug-project-drugrecomendation\9da8fb70-ea4c-4cf2-953c-5bcd9131f7d4\scratchpad\pptgen\icons\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381" y="1961937"/>
            <a:ext cx="419527" cy="4195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1051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691640" y="2148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Templates + Bootstrap 5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892040" y="1691640"/>
            <a:ext cx="6446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Role-specific dashboards for Admin, User, Company &amp; Doctor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40080" y="2816352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3012948"/>
            <a:ext cx="566928" cy="566928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2" name="Image 1" descr="C:\Users\liyon\AppData\Local\Temp\claude\C--Users-liyon-Personal-MCA-PROJECT-drug-project--2--drug-project-drugrecomendation\9da8fb70-ea4c-4cf2-953c-5bcd9131f7d4\scratchpad\pptgen\icons\co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81" y="3086649"/>
            <a:ext cx="419527" cy="41952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293522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1691640" y="3273552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4.0.4 Views (Python 3.9)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892040" y="2816352"/>
            <a:ext cx="6446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Routing, session-based auth, business logic per actor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40080" y="3941064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E3E8E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68680" y="4137660"/>
            <a:ext cx="566928" cy="566928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18" name="Image 2" descr="C:\Users\liyon\AppData\Local\Temp\claude\C--Users-liyon-Personal-MCA-PROJECT-drug-project--2--drug-project-drugrecomendation\9da8fb70-ea4c-4cf2-953c-5bcd9131f7d4\scratchpad\pptgen\icons\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381" y="4211361"/>
            <a:ext cx="419527" cy="41952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05993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Layer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1691640" y="4398264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— tokenising, POS-tagging, stemming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892040" y="3941064"/>
            <a:ext cx="6446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free-text reviews into a sentiment-based star rating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40080" y="5065776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68680" y="5262372"/>
            <a:ext cx="566928" cy="566928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24" name="Image 3" descr="C:\Users\liyon\AppData\Local\Temp\claude\C--Users-liyon-Personal-MCA-PROJECT-drug-project--2--drug-project-drugrecomendation\9da8fb70-ea4c-4cf2-953c-5bcd9131f7d4\scratchpad\pptgen\icons\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381" y="5336073"/>
            <a:ext cx="419527" cy="41952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51846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1691640" y="5522976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892040" y="5065776"/>
            <a:ext cx="6446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Patients, companies, doctors, medicines, reviews &amp; chat history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Actors, One Platform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15184" cy="429768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127000" dist="38100" dir="5400000" algn="bl" rotWithShape="0">
              <a:srgbClr val="16324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0F2A43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404872"/>
            <a:ext cx="2615184" cy="704088"/>
          </a:xfrm>
          <a:prstGeom prst="rect">
            <a:avLst/>
          </a:prstGeom>
          <a:solidFill>
            <a:srgbClr val="0F2A43"/>
          </a:solidFill>
          <a:ln/>
        </p:spPr>
      </p:sp>
      <p:sp>
        <p:nvSpPr>
          <p:cNvPr id="7" name="Shape 5"/>
          <p:cNvSpPr/>
          <p:nvPr/>
        </p:nvSpPr>
        <p:spPr>
          <a:xfrm>
            <a:off x="1563624" y="1947672"/>
            <a:ext cx="768096" cy="768096"/>
          </a:xfrm>
          <a:prstGeom prst="ellipse">
            <a:avLst/>
          </a:prstGeom>
          <a:solidFill>
            <a:srgbClr val="0A1D2E"/>
          </a:solidFill>
          <a:ln/>
        </p:spPr>
      </p:sp>
      <p:pic>
        <p:nvPicPr>
          <p:cNvPr id="8" name="Image 0" descr="C:\Users\liyon\AppData\Local\Temp\claude\C--Users-liyon-Personal-MCA-PROJECT-drug-project--2--drug-project-drugrecomendation\9da8fb70-ea4c-4cf2-953c-5bcd9131f7d4\scratchpad\pptgen\icons\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476" y="2047524"/>
            <a:ext cx="568391" cy="56839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172968"/>
            <a:ext cx="2615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841248" y="3767328"/>
            <a:ext cx="64008" cy="64008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1" name="Text 8"/>
          <p:cNvSpPr/>
          <p:nvPr/>
        </p:nvSpPr>
        <p:spPr>
          <a:xfrm>
            <a:off x="1005840" y="3630168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/ rejects company &amp; doctor sign-ups</a:t>
            </a:r>
            <a:endParaRPr lang="en-US" sz="1070" dirty="0"/>
          </a:p>
        </p:txBody>
      </p:sp>
      <p:sp>
        <p:nvSpPr>
          <p:cNvPr id="12" name="Shape 9"/>
          <p:cNvSpPr/>
          <p:nvPr/>
        </p:nvSpPr>
        <p:spPr>
          <a:xfrm>
            <a:off x="841248" y="4517136"/>
            <a:ext cx="64008" cy="64008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3" name="Text 10"/>
          <p:cNvSpPr/>
          <p:nvPr/>
        </p:nvSpPr>
        <p:spPr>
          <a:xfrm>
            <a:off x="1005840" y="4379976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Oversees medicines, users &amp; feedback</a:t>
            </a:r>
            <a:endParaRPr lang="en-US" sz="1070" dirty="0"/>
          </a:p>
        </p:txBody>
      </p:sp>
      <p:sp>
        <p:nvSpPr>
          <p:cNvPr id="14" name="Shape 11"/>
          <p:cNvSpPr/>
          <p:nvPr/>
        </p:nvSpPr>
        <p:spPr>
          <a:xfrm>
            <a:off x="841248" y="5266944"/>
            <a:ext cx="64008" cy="64008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5" name="Text 12"/>
          <p:cNvSpPr/>
          <p:nvPr/>
        </p:nvSpPr>
        <p:spPr>
          <a:xfrm>
            <a:off x="1005840" y="5129784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control point for platform integrity</a:t>
            </a:r>
            <a:endParaRPr lang="en-US" sz="1070" dirty="0"/>
          </a:p>
        </p:txBody>
      </p:sp>
      <p:sp>
        <p:nvSpPr>
          <p:cNvPr id="16" name="Shape 13"/>
          <p:cNvSpPr/>
          <p:nvPr/>
        </p:nvSpPr>
        <p:spPr>
          <a:xfrm>
            <a:off x="3474720" y="1691640"/>
            <a:ext cx="2615184" cy="429768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127000" dist="38100" dir="5400000" algn="bl" rotWithShape="0">
              <a:srgbClr val="16324C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474720" y="169164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F44749"/>
          </a:solidFill>
          <a:ln/>
        </p:spPr>
      </p:sp>
      <p:sp>
        <p:nvSpPr>
          <p:cNvPr id="18" name="Shape 15"/>
          <p:cNvSpPr/>
          <p:nvPr/>
        </p:nvSpPr>
        <p:spPr>
          <a:xfrm>
            <a:off x="3474720" y="2404872"/>
            <a:ext cx="2615184" cy="704088"/>
          </a:xfrm>
          <a:prstGeom prst="rect">
            <a:avLst/>
          </a:prstGeom>
          <a:solidFill>
            <a:srgbClr val="F44749"/>
          </a:solidFill>
          <a:ln/>
        </p:spPr>
      </p:sp>
      <p:sp>
        <p:nvSpPr>
          <p:cNvPr id="19" name="Shape 16"/>
          <p:cNvSpPr/>
          <p:nvPr/>
        </p:nvSpPr>
        <p:spPr>
          <a:xfrm>
            <a:off x="4398264" y="1947672"/>
            <a:ext cx="768096" cy="768096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0" name="Image 1" descr="C:\Users\liyon\AppData\Local\Temp\claude\C--Users-liyon-Personal-MCA-PROJECT-drug-project--2--drug-project-drugrecomendation\9da8fb70-ea4c-4cf2-953c-5bcd9131f7d4\scratchpad\pptgen\icons\pat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116" y="2047524"/>
            <a:ext cx="568391" cy="56839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474720" y="3172968"/>
            <a:ext cx="2615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(User)</a:t>
            </a:r>
            <a:endParaRPr lang="en-US" sz="1550" dirty="0"/>
          </a:p>
        </p:txBody>
      </p:sp>
      <p:sp>
        <p:nvSpPr>
          <p:cNvPr id="22" name="Shape 18"/>
          <p:cNvSpPr/>
          <p:nvPr/>
        </p:nvSpPr>
        <p:spPr>
          <a:xfrm>
            <a:off x="3675888" y="3767328"/>
            <a:ext cx="64008" cy="64008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3" name="Text 19"/>
          <p:cNvSpPr/>
          <p:nvPr/>
        </p:nvSpPr>
        <p:spPr>
          <a:xfrm>
            <a:off x="3840480" y="3630168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freely, browses &amp; searches medicines</a:t>
            </a:r>
            <a:endParaRPr lang="en-US" sz="1070" dirty="0"/>
          </a:p>
        </p:txBody>
      </p:sp>
      <p:sp>
        <p:nvSpPr>
          <p:cNvPr id="24" name="Shape 20"/>
          <p:cNvSpPr/>
          <p:nvPr/>
        </p:nvSpPr>
        <p:spPr>
          <a:xfrm>
            <a:off x="3675888" y="4517136"/>
            <a:ext cx="64008" cy="64008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5" name="Text 21"/>
          <p:cNvSpPr/>
          <p:nvPr/>
        </p:nvSpPr>
        <p:spPr>
          <a:xfrm>
            <a:off x="3840480" y="4379976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reviews — auto-rated by sentiment analysis</a:t>
            </a:r>
            <a:endParaRPr lang="en-US" sz="1070" dirty="0"/>
          </a:p>
        </p:txBody>
      </p:sp>
      <p:sp>
        <p:nvSpPr>
          <p:cNvPr id="26" name="Shape 22"/>
          <p:cNvSpPr/>
          <p:nvPr/>
        </p:nvSpPr>
        <p:spPr>
          <a:xfrm>
            <a:off x="3675888" y="5266944"/>
            <a:ext cx="64008" cy="64008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7" name="Text 23"/>
          <p:cNvSpPr/>
          <p:nvPr/>
        </p:nvSpPr>
        <p:spPr>
          <a:xfrm>
            <a:off x="3840480" y="5129784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Chats live with doctors, files feedback</a:t>
            </a:r>
            <a:endParaRPr lang="en-US" sz="1070" dirty="0"/>
          </a:p>
        </p:txBody>
      </p:sp>
      <p:sp>
        <p:nvSpPr>
          <p:cNvPr id="28" name="Shape 24"/>
          <p:cNvSpPr/>
          <p:nvPr/>
        </p:nvSpPr>
        <p:spPr>
          <a:xfrm>
            <a:off x="6309360" y="1691640"/>
            <a:ext cx="2615184" cy="429768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127000" dist="38100" dir="5400000" algn="bl" rotWithShape="0">
              <a:srgbClr val="16324C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309360" y="169164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2F6E71"/>
          </a:solidFill>
          <a:ln/>
        </p:spPr>
      </p:sp>
      <p:sp>
        <p:nvSpPr>
          <p:cNvPr id="30" name="Shape 26"/>
          <p:cNvSpPr/>
          <p:nvPr/>
        </p:nvSpPr>
        <p:spPr>
          <a:xfrm>
            <a:off x="6309360" y="2404872"/>
            <a:ext cx="2615184" cy="704088"/>
          </a:xfrm>
          <a:prstGeom prst="rect">
            <a:avLst/>
          </a:prstGeom>
          <a:solidFill>
            <a:srgbClr val="2F6E71"/>
          </a:solidFill>
          <a:ln/>
        </p:spPr>
      </p:sp>
      <p:sp>
        <p:nvSpPr>
          <p:cNvPr id="31" name="Shape 27"/>
          <p:cNvSpPr/>
          <p:nvPr/>
        </p:nvSpPr>
        <p:spPr>
          <a:xfrm>
            <a:off x="7232904" y="1947672"/>
            <a:ext cx="768096" cy="768096"/>
          </a:xfrm>
          <a:prstGeom prst="ellipse">
            <a:avLst/>
          </a:prstGeom>
          <a:solidFill>
            <a:srgbClr val="1F4E50"/>
          </a:solidFill>
          <a:ln/>
        </p:spPr>
      </p:sp>
      <p:pic>
        <p:nvPicPr>
          <p:cNvPr id="32" name="Image 2" descr="C:\Users\liyon\AppData\Local\Temp\claude\C--Users-liyon-Personal-MCA-PROJECT-drug-project--2--drug-project-drugrecomendation\9da8fb70-ea4c-4cf2-953c-5bcd9131f7d4\scratchpad\pptgen\icons\comp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2756" y="2047524"/>
            <a:ext cx="568391" cy="568391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309360" y="3172968"/>
            <a:ext cx="2615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 Company</a:t>
            </a:r>
            <a:endParaRPr lang="en-US" sz="1550" dirty="0"/>
          </a:p>
        </p:txBody>
      </p:sp>
      <p:sp>
        <p:nvSpPr>
          <p:cNvPr id="34" name="Shape 29"/>
          <p:cNvSpPr/>
          <p:nvPr/>
        </p:nvSpPr>
        <p:spPr>
          <a:xfrm>
            <a:off x="6510528" y="3767328"/>
            <a:ext cx="64008" cy="64008"/>
          </a:xfrm>
          <a:prstGeom prst="ellipse">
            <a:avLst/>
          </a:prstGeom>
          <a:solidFill>
            <a:srgbClr val="2F6E71"/>
          </a:solidFill>
          <a:ln/>
        </p:spPr>
      </p:sp>
      <p:sp>
        <p:nvSpPr>
          <p:cNvPr id="35" name="Text 30"/>
          <p:cNvSpPr/>
          <p:nvPr/>
        </p:nvSpPr>
        <p:spPr>
          <a:xfrm>
            <a:off x="6675120" y="3630168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Registers, held pending until admin-approved</a:t>
            </a:r>
            <a:endParaRPr lang="en-US" sz="1070" dirty="0"/>
          </a:p>
        </p:txBody>
      </p:sp>
      <p:sp>
        <p:nvSpPr>
          <p:cNvPr id="36" name="Shape 31"/>
          <p:cNvSpPr/>
          <p:nvPr/>
        </p:nvSpPr>
        <p:spPr>
          <a:xfrm>
            <a:off x="6510528" y="4517136"/>
            <a:ext cx="64008" cy="64008"/>
          </a:xfrm>
          <a:prstGeom prst="ellipse">
            <a:avLst/>
          </a:prstGeom>
          <a:solidFill>
            <a:srgbClr val="2F6E71"/>
          </a:solidFill>
          <a:ln/>
        </p:spPr>
      </p:sp>
      <p:sp>
        <p:nvSpPr>
          <p:cNvPr id="37" name="Text 32"/>
          <p:cNvSpPr/>
          <p:nvPr/>
        </p:nvSpPr>
        <p:spPr>
          <a:xfrm>
            <a:off x="6675120" y="4379976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&amp; maintains medicine catalogue entries</a:t>
            </a:r>
            <a:endParaRPr lang="en-US" sz="1070" dirty="0"/>
          </a:p>
        </p:txBody>
      </p:sp>
      <p:sp>
        <p:nvSpPr>
          <p:cNvPr id="38" name="Shape 33"/>
          <p:cNvSpPr/>
          <p:nvPr/>
        </p:nvSpPr>
        <p:spPr>
          <a:xfrm>
            <a:off x="6510528" y="5266944"/>
            <a:ext cx="64008" cy="64008"/>
          </a:xfrm>
          <a:prstGeom prst="ellipse">
            <a:avLst/>
          </a:prstGeom>
          <a:solidFill>
            <a:srgbClr val="2F6E71"/>
          </a:solidFill>
          <a:ln/>
        </p:spPr>
      </p:sp>
      <p:sp>
        <p:nvSpPr>
          <p:cNvPr id="39" name="Text 34"/>
          <p:cNvSpPr/>
          <p:nvPr/>
        </p:nvSpPr>
        <p:spPr>
          <a:xfrm>
            <a:off x="6675120" y="5129784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its own company profile</a:t>
            </a:r>
            <a:endParaRPr lang="en-US" sz="1070" dirty="0"/>
          </a:p>
        </p:txBody>
      </p:sp>
      <p:sp>
        <p:nvSpPr>
          <p:cNvPr id="40" name="Shape 35"/>
          <p:cNvSpPr/>
          <p:nvPr/>
        </p:nvSpPr>
        <p:spPr>
          <a:xfrm>
            <a:off x="9144000" y="1691640"/>
            <a:ext cx="2615184" cy="429768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127000" dist="38100" dir="5400000" algn="bl" rotWithShape="0">
              <a:srgbClr val="16324C">
                <a:alpha val="12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9144000" y="1691640"/>
            <a:ext cx="2615184" cy="1417320"/>
          </a:xfrm>
          <a:prstGeom prst="roundRect">
            <a:avLst>
              <a:gd name="adj" fmla="val 5806"/>
            </a:avLst>
          </a:prstGeom>
          <a:solidFill>
            <a:srgbClr val="F3AF24"/>
          </a:solidFill>
          <a:ln/>
        </p:spPr>
      </p:sp>
      <p:sp>
        <p:nvSpPr>
          <p:cNvPr id="42" name="Shape 37"/>
          <p:cNvSpPr/>
          <p:nvPr/>
        </p:nvSpPr>
        <p:spPr>
          <a:xfrm>
            <a:off x="9144000" y="2404872"/>
            <a:ext cx="2615184" cy="704088"/>
          </a:xfrm>
          <a:prstGeom prst="rect">
            <a:avLst/>
          </a:prstGeom>
          <a:solidFill>
            <a:srgbClr val="F3AF24"/>
          </a:solidFill>
          <a:ln/>
        </p:spPr>
      </p:sp>
      <p:sp>
        <p:nvSpPr>
          <p:cNvPr id="43" name="Shape 38"/>
          <p:cNvSpPr/>
          <p:nvPr/>
        </p:nvSpPr>
        <p:spPr>
          <a:xfrm>
            <a:off x="10067544" y="1947672"/>
            <a:ext cx="768096" cy="768096"/>
          </a:xfrm>
          <a:prstGeom prst="ellipse">
            <a:avLst/>
          </a:prstGeom>
          <a:solidFill>
            <a:srgbClr val="C9860E"/>
          </a:solidFill>
          <a:ln/>
        </p:spPr>
      </p:sp>
      <p:pic>
        <p:nvPicPr>
          <p:cNvPr id="44" name="Image 3" descr="C:\Users\liyon\AppData\Local\Temp\claude\C--Users-liyon-Personal-MCA-PROJECT-drug-project--2--drug-project-drugrecomendation\9da8fb70-ea4c-4cf2-953c-5bcd9131f7d4\scratchpad\pptgen\icons\doc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7396" y="2047524"/>
            <a:ext cx="568391" cy="568391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144000" y="3172968"/>
            <a:ext cx="2615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1550" dirty="0"/>
          </a:p>
        </p:txBody>
      </p:sp>
      <p:sp>
        <p:nvSpPr>
          <p:cNvPr id="46" name="Shape 40"/>
          <p:cNvSpPr/>
          <p:nvPr/>
        </p:nvSpPr>
        <p:spPr>
          <a:xfrm>
            <a:off x="9345168" y="3767328"/>
            <a:ext cx="64008" cy="64008"/>
          </a:xfrm>
          <a:prstGeom prst="ellipse">
            <a:avLst/>
          </a:prstGeom>
          <a:solidFill>
            <a:srgbClr val="F3AF24"/>
          </a:solidFill>
          <a:ln/>
        </p:spPr>
      </p:sp>
      <p:sp>
        <p:nvSpPr>
          <p:cNvPr id="47" name="Text 41"/>
          <p:cNvSpPr/>
          <p:nvPr/>
        </p:nvSpPr>
        <p:spPr>
          <a:xfrm>
            <a:off x="9509760" y="3630168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with specialisation &amp; qualification</a:t>
            </a:r>
            <a:endParaRPr lang="en-US" sz="1070" dirty="0"/>
          </a:p>
        </p:txBody>
      </p:sp>
      <p:sp>
        <p:nvSpPr>
          <p:cNvPr id="48" name="Shape 42"/>
          <p:cNvSpPr/>
          <p:nvPr/>
        </p:nvSpPr>
        <p:spPr>
          <a:xfrm>
            <a:off x="9345168" y="4517136"/>
            <a:ext cx="64008" cy="64008"/>
          </a:xfrm>
          <a:prstGeom prst="ellipse">
            <a:avLst/>
          </a:prstGeom>
          <a:solidFill>
            <a:srgbClr val="F3AF24"/>
          </a:solidFill>
          <a:ln/>
        </p:spPr>
      </p:sp>
      <p:sp>
        <p:nvSpPr>
          <p:cNvPr id="49" name="Text 43"/>
          <p:cNvSpPr/>
          <p:nvPr/>
        </p:nvSpPr>
        <p:spPr>
          <a:xfrm>
            <a:off x="9509760" y="4379976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patient chat consultations</a:t>
            </a:r>
            <a:endParaRPr lang="en-US" sz="1070" dirty="0"/>
          </a:p>
        </p:txBody>
      </p:sp>
      <p:sp>
        <p:nvSpPr>
          <p:cNvPr id="50" name="Shape 44"/>
          <p:cNvSpPr/>
          <p:nvPr/>
        </p:nvSpPr>
        <p:spPr>
          <a:xfrm>
            <a:off x="9345168" y="5266944"/>
            <a:ext cx="64008" cy="64008"/>
          </a:xfrm>
          <a:prstGeom prst="ellipse">
            <a:avLst/>
          </a:prstGeom>
          <a:solidFill>
            <a:srgbClr val="F3AF24"/>
          </a:solidFill>
          <a:ln/>
        </p:spPr>
      </p:sp>
      <p:sp>
        <p:nvSpPr>
          <p:cNvPr id="51" name="Text 45"/>
          <p:cNvSpPr/>
          <p:nvPr/>
        </p:nvSpPr>
        <p:spPr>
          <a:xfrm>
            <a:off x="9509760" y="5129784"/>
            <a:ext cx="2066544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7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a professional profile</a:t>
            </a:r>
            <a:endParaRPr lang="en-US" sz="1070" dirty="0"/>
          </a:p>
        </p:txBody>
      </p:sp>
      <p:sp>
        <p:nvSpPr>
          <p:cNvPr id="52" name="Text 4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53" name="Text 4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FLOW ·1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Registration, Approval &amp; Role-Based Login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240280"/>
            <a:ext cx="0" cy="384048"/>
          </a:xfrm>
          <a:prstGeom prst="line">
            <a:avLst/>
          </a:prstGeom>
          <a:noFill/>
          <a:ln w="25400">
            <a:solidFill>
              <a:srgbClr val="E3E8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5880" y="1728216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029968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/ Company / Doctor signs up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24328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" y="3081528"/>
            <a:ext cx="0" cy="384048"/>
          </a:xfrm>
          <a:prstGeom prst="line">
            <a:avLst/>
          </a:prstGeom>
          <a:noFill/>
          <a:ln w="25400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2569464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871216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&amp; Doctor start as unapproved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465576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655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68680" y="3922776"/>
            <a:ext cx="0" cy="384048"/>
          </a:xfrm>
          <a:prstGeom prst="line">
            <a:avLst/>
          </a:prstGeom>
          <a:noFill/>
          <a:ln w="25400">
            <a:solidFill>
              <a:srgbClr val="E3E8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25880" y="341071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712464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or rejects from the admin panel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06824"/>
            <a:ext cx="457200" cy="457200"/>
          </a:xfrm>
          <a:prstGeom prst="ellipse">
            <a:avLst/>
          </a:prstGeom>
          <a:solidFill>
            <a:srgbClr val="0F2A43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06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68680" y="4764024"/>
            <a:ext cx="0" cy="384048"/>
          </a:xfrm>
          <a:prstGeom prst="line">
            <a:avLst/>
          </a:prstGeom>
          <a:noFill/>
          <a:ln w="25400">
            <a:solidFill>
              <a:srgbClr val="E3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25880" y="42519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553712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form authenticates every role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148072"/>
            <a:ext cx="457200" cy="457200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148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093208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Dashboard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39496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straight to the matching home screen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91656" y="1728216"/>
            <a:ext cx="5230368" cy="271576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228600" dist="76200" dir="5400000" algn="bl" rotWithShape="0">
              <a:srgbClr val="1B2733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1783080"/>
            <a:ext cx="5120640" cy="256032"/>
          </a:xfrm>
          <a:prstGeom prst="roundRect">
            <a:avLst>
              <a:gd name="adj" fmla="val 17857"/>
            </a:avLst>
          </a:prstGeom>
          <a:solidFill>
            <a:srgbClr val="E7EBEF"/>
          </a:solidFill>
          <a:ln/>
        </p:spPr>
      </p:sp>
      <p:sp>
        <p:nvSpPr>
          <p:cNvPr id="30" name="Shape 28"/>
          <p:cNvSpPr/>
          <p:nvPr/>
        </p:nvSpPr>
        <p:spPr>
          <a:xfrm>
            <a:off x="6556248" y="1869948"/>
            <a:ext cx="82296" cy="82296"/>
          </a:xfrm>
          <a:prstGeom prst="ellipse">
            <a:avLst/>
          </a:prstGeom>
          <a:solidFill>
            <a:srgbClr val="E06258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9984" y="1869948"/>
            <a:ext cx="82296" cy="82296"/>
          </a:xfrm>
          <a:prstGeom prst="ellipse">
            <a:avLst/>
          </a:prstGeom>
          <a:solidFill>
            <a:srgbClr val="F0BC4C"/>
          </a:solidFill>
          <a:ln/>
        </p:spPr>
      </p:sp>
      <p:sp>
        <p:nvSpPr>
          <p:cNvPr id="32" name="Shape 30"/>
          <p:cNvSpPr/>
          <p:nvPr/>
        </p:nvSpPr>
        <p:spPr>
          <a:xfrm>
            <a:off x="6903720" y="1869948"/>
            <a:ext cx="82296" cy="82296"/>
          </a:xfrm>
          <a:prstGeom prst="ellipse">
            <a:avLst/>
          </a:prstGeom>
          <a:solidFill>
            <a:srgbClr val="63C368"/>
          </a:solidFill>
          <a:ln/>
        </p:spPr>
      </p:sp>
      <p:pic>
        <p:nvPicPr>
          <p:cNvPr id="33" name="Image 0" descr="C:\Users\liyon\AppData\Local\Temp\claude\C--Users-liyon-Personal-MCA-PROJECT-drug-project--2--drug-project-drugrecomendation\9da8fb70-ea4c-4cf2-953c-5bcd9131f7d4\scratchpad\pptgen\shots\02_logi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46520" y="2039112"/>
            <a:ext cx="5120640" cy="2350008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6391656" y="4471416"/>
            <a:ext cx="5230368" cy="1527048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228600" dist="76200" dir="5400000" algn="bl" rotWithShape="0">
              <a:srgbClr val="1B2733">
                <a:alpha val="2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446520" y="4526280"/>
            <a:ext cx="5120640" cy="256032"/>
          </a:xfrm>
          <a:prstGeom prst="roundRect">
            <a:avLst>
              <a:gd name="adj" fmla="val 17857"/>
            </a:avLst>
          </a:prstGeom>
          <a:solidFill>
            <a:srgbClr val="E7EBEF"/>
          </a:solidFill>
          <a:ln/>
        </p:spPr>
      </p:sp>
      <p:sp>
        <p:nvSpPr>
          <p:cNvPr id="36" name="Shape 33"/>
          <p:cNvSpPr/>
          <p:nvPr/>
        </p:nvSpPr>
        <p:spPr>
          <a:xfrm>
            <a:off x="6556248" y="4613148"/>
            <a:ext cx="82296" cy="82296"/>
          </a:xfrm>
          <a:prstGeom prst="ellipse">
            <a:avLst/>
          </a:prstGeom>
          <a:solidFill>
            <a:srgbClr val="E06258"/>
          </a:solidFill>
          <a:ln/>
        </p:spPr>
      </p:sp>
      <p:sp>
        <p:nvSpPr>
          <p:cNvPr id="37" name="Shape 34"/>
          <p:cNvSpPr/>
          <p:nvPr/>
        </p:nvSpPr>
        <p:spPr>
          <a:xfrm>
            <a:off x="6729984" y="4613148"/>
            <a:ext cx="82296" cy="82296"/>
          </a:xfrm>
          <a:prstGeom prst="ellipse">
            <a:avLst/>
          </a:prstGeom>
          <a:solidFill>
            <a:srgbClr val="F0BC4C"/>
          </a:solidFill>
          <a:ln/>
        </p:spPr>
      </p:sp>
      <p:sp>
        <p:nvSpPr>
          <p:cNvPr id="38" name="Shape 35"/>
          <p:cNvSpPr/>
          <p:nvPr/>
        </p:nvSpPr>
        <p:spPr>
          <a:xfrm>
            <a:off x="6903720" y="4613148"/>
            <a:ext cx="82296" cy="82296"/>
          </a:xfrm>
          <a:prstGeom prst="ellipse">
            <a:avLst/>
          </a:prstGeom>
          <a:solidFill>
            <a:srgbClr val="63C368"/>
          </a:solidFill>
          <a:ln/>
        </p:spPr>
      </p:sp>
      <p:pic>
        <p:nvPicPr>
          <p:cNvPr id="39" name="Image 1" descr="C:\Users\liyon\AppData\Local\Temp\claude\C--Users-liyon-Personal-MCA-PROJECT-drug-project--2--drug-project-drugrecomendation\9da8fb70-ea4c-4cf2-953c-5bcd9131f7d4\scratchpad\pptgen\shots\04_admin_companie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46520" y="4782312"/>
            <a:ext cx="5120640" cy="116128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6446520" y="6053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  →  Admin's company-approval screen (real application screenshots)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42" name="Text 3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FLOW ·2 — CORE 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AI-Driven, Sentiment-Based Recommendation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07008" y="2057400"/>
            <a:ext cx="512064" cy="512064"/>
          </a:xfrm>
          <a:prstGeom prst="ellipse">
            <a:avLst/>
          </a:prstGeom>
          <a:solidFill>
            <a:srgbClr val="2F6E71"/>
          </a:solidFill>
          <a:ln/>
        </p:spPr>
      </p:sp>
      <p:pic>
        <p:nvPicPr>
          <p:cNvPr id="6" name="Image 0" descr="C:\Users\liyon\AppData\Local\Temp\claude\C--Users-liyon-Personal-MCA-PROJECT-drug-project--2--drug-project-drugrecomendation\9da8fb70-ea4c-4cf2-953c-5bcd9131f7d4\scratchpad\pptgen\icons\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76" y="2123968"/>
            <a:ext cx="378927" cy="3789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" y="2715768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Review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2267712" y="2331720"/>
            <a:ext cx="246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487168" y="18745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54096" y="2057400"/>
            <a:ext cx="512064" cy="512064"/>
          </a:xfrm>
          <a:prstGeom prst="ellipse">
            <a:avLst/>
          </a:prstGeom>
          <a:solidFill>
            <a:srgbClr val="2F6E71"/>
          </a:solidFill>
          <a:ln/>
        </p:spPr>
      </p:sp>
      <p:pic>
        <p:nvPicPr>
          <p:cNvPr id="11" name="Image 1" descr="C:\Users\liyon\AppData\Local\Temp\claude\C--Users-liyon-Personal-MCA-PROJECT-drug-project--2--drug-project-drugrecomendation\9da8fb70-ea4c-4cf2-953c-5bcd9131f7d4\scratchpad\pptgen\icons\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0664" y="2123968"/>
            <a:ext cx="378927" cy="3789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42032" y="2715768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 &amp; POS-Tag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114800" y="2331720"/>
            <a:ext cx="246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334256" y="18745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01184" y="2057400"/>
            <a:ext cx="512064" cy="512064"/>
          </a:xfrm>
          <a:prstGeom prst="ellipse">
            <a:avLst/>
          </a:prstGeom>
          <a:solidFill>
            <a:srgbClr val="2F6E71"/>
          </a:solidFill>
          <a:ln/>
        </p:spPr>
      </p:sp>
      <p:pic>
        <p:nvPicPr>
          <p:cNvPr id="16" name="Image 2" descr="C:\Users\liyon\AppData\Local\Temp\claude\C--Users-liyon-Personal-MCA-PROJECT-drug-project--2--drug-project-drugrecomendation\9da8fb70-ea4c-4cf2-953c-5bcd9131f7d4\scratchpad\pptgen\icons\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752" y="2123968"/>
            <a:ext cx="378927" cy="37892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389120" y="2715768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(Porter Stemmer)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961888" y="2331720"/>
            <a:ext cx="246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6181344" y="18745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748272" y="2057400"/>
            <a:ext cx="512064" cy="512064"/>
          </a:xfrm>
          <a:prstGeom prst="ellipse">
            <a:avLst/>
          </a:prstGeom>
          <a:solidFill>
            <a:srgbClr val="2F6E71"/>
          </a:solidFill>
          <a:ln/>
        </p:spPr>
      </p:sp>
      <p:pic>
        <p:nvPicPr>
          <p:cNvPr id="21" name="Image 3" descr="C:\Users\liyon\AppData\Local\Temp\claude\C--Users-liyon-Personal-MCA-PROJECT-drug-project--2--drug-project-drugrecomendation\9da8fb70-ea4c-4cf2-953c-5bcd9131f7d4\scratchpad\pptgen\icons\exch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840" y="2123968"/>
            <a:ext cx="378927" cy="37892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236208" y="2715768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vs. Lexicon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808976" y="2331720"/>
            <a:ext cx="246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8028432" y="18745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595360" y="2057400"/>
            <a:ext cx="512064" cy="512064"/>
          </a:xfrm>
          <a:prstGeom prst="ellipse">
            <a:avLst/>
          </a:prstGeom>
          <a:solidFill>
            <a:srgbClr val="2F6E71"/>
          </a:solidFill>
          <a:ln/>
        </p:spPr>
      </p:sp>
      <p:pic>
        <p:nvPicPr>
          <p:cNvPr id="26" name="Image 4" descr="C:\Users\liyon\AppData\Local\Temp\claude\C--Users-liyon-Personal-MCA-PROJECT-drug-project--2--drug-project-drugrecomendation\9da8fb70-ea4c-4cf2-953c-5bcd9131f7d4\scratchpad\pptgen\icons\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1928" y="2123968"/>
            <a:ext cx="378927" cy="378927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083296" y="2715768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Score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9656064" y="2331720"/>
            <a:ext cx="246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9875520" y="1874520"/>
            <a:ext cx="1645920" cy="1417320"/>
          </a:xfrm>
          <a:prstGeom prst="roundRect">
            <a:avLst>
              <a:gd name="adj" fmla="val 5161"/>
            </a:avLst>
          </a:prstGeom>
          <a:solidFill>
            <a:srgbClr val="16324C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10442448" y="2057400"/>
            <a:ext cx="512064" cy="512064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31" name="Image 5" descr="C:\Users\liyon\AppData\Local\Temp\claude\C--Users-liyon-Personal-MCA-PROJECT-drug-project--2--drug-project-drugrecomendation\9da8fb70-ea4c-4cf2-953c-5bcd9131f7d4\scratchpad\pptgen\icons\st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9016" y="2123968"/>
            <a:ext cx="378927" cy="378927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0384" y="2715768"/>
            <a:ext cx="15361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Star Rating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640080" y="3611880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C9D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is tokenised and POS-tagged with NLTK, reduced to root words with a Porter Stemmer, then matched word-by-word against curated positive / negative lexicons. The resulting sentiment score is bucketed into a 1–5 star rating — stored automatically, without the patient ever picking a star themselves.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640080" y="5166360"/>
            <a:ext cx="6858000" cy="960120"/>
          </a:xfrm>
          <a:prstGeom prst="roundRect">
            <a:avLst>
              <a:gd name="adj" fmla="val 7619"/>
            </a:avLst>
          </a:prstGeom>
          <a:solidFill>
            <a:srgbClr val="0A1D2E"/>
          </a:solidFill>
          <a:ln w="12700">
            <a:solidFill>
              <a:srgbClr val="24486A"/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5166360"/>
            <a:ext cx="6400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rule:  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results are ranked by AVG(rating) DESC</a:t>
            </a:r>
            <a:r>
              <a:rPr lang="en-US" sz="125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medicines rated above 3 surface first, exactly as the report specifies.</a:t>
            </a:r>
            <a:endParaRPr lang="en-US" sz="1250" dirty="0"/>
          </a:p>
        </p:txBody>
      </p:sp>
      <p:sp>
        <p:nvSpPr>
          <p:cNvPr id="36" name="Shape 28"/>
          <p:cNvSpPr/>
          <p:nvPr/>
        </p:nvSpPr>
        <p:spPr>
          <a:xfrm>
            <a:off x="7763256" y="3557016"/>
            <a:ext cx="3858768" cy="2624328"/>
          </a:xfrm>
          <a:prstGeom prst="roundRect">
            <a:avLst>
              <a:gd name="adj" fmla="val 3136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228600" dist="76200" dir="5400000" algn="bl" rotWithShape="0">
              <a:srgbClr val="1B2733">
                <a:alpha val="28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7818120" y="3611880"/>
            <a:ext cx="3749040" cy="256032"/>
          </a:xfrm>
          <a:prstGeom prst="roundRect">
            <a:avLst>
              <a:gd name="adj" fmla="val 17857"/>
            </a:avLst>
          </a:prstGeom>
          <a:solidFill>
            <a:srgbClr val="E7EBEF"/>
          </a:solidFill>
          <a:ln/>
        </p:spPr>
      </p:sp>
      <p:sp>
        <p:nvSpPr>
          <p:cNvPr id="38" name="Shape 30"/>
          <p:cNvSpPr/>
          <p:nvPr/>
        </p:nvSpPr>
        <p:spPr>
          <a:xfrm>
            <a:off x="7927848" y="3698748"/>
            <a:ext cx="82296" cy="82296"/>
          </a:xfrm>
          <a:prstGeom prst="ellipse">
            <a:avLst/>
          </a:prstGeom>
          <a:solidFill>
            <a:srgbClr val="E06258"/>
          </a:solidFill>
          <a:ln/>
        </p:spPr>
      </p:sp>
      <p:sp>
        <p:nvSpPr>
          <p:cNvPr id="39" name="Shape 31"/>
          <p:cNvSpPr/>
          <p:nvPr/>
        </p:nvSpPr>
        <p:spPr>
          <a:xfrm>
            <a:off x="8101584" y="3698748"/>
            <a:ext cx="82296" cy="82296"/>
          </a:xfrm>
          <a:prstGeom prst="ellipse">
            <a:avLst/>
          </a:prstGeom>
          <a:solidFill>
            <a:srgbClr val="F0BC4C"/>
          </a:solidFill>
          <a:ln/>
        </p:spPr>
      </p:sp>
      <p:sp>
        <p:nvSpPr>
          <p:cNvPr id="40" name="Shape 32"/>
          <p:cNvSpPr/>
          <p:nvPr/>
        </p:nvSpPr>
        <p:spPr>
          <a:xfrm>
            <a:off x="8275320" y="3698748"/>
            <a:ext cx="82296" cy="82296"/>
          </a:xfrm>
          <a:prstGeom prst="ellipse">
            <a:avLst/>
          </a:prstGeom>
          <a:solidFill>
            <a:srgbClr val="63C368"/>
          </a:solidFill>
          <a:ln/>
        </p:spPr>
      </p:sp>
      <p:pic>
        <p:nvPicPr>
          <p:cNvPr id="41" name="Image 6" descr="C:\Users\liyon\AppData\Local\Temp\claude\C--Users-liyon-Personal-MCA-PROJECT-drug-project--2--drug-project-drugrecomendation\9da8fb70-ea4c-4cf2-953c-5bcd9131f7d4\scratchpad\pptgen\shots\06_user_doctorlist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818120" y="3867912"/>
            <a:ext cx="3749040" cy="225856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43" name="Text 3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FLOW ·3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Patient ↔ Doctor Chat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532120" cy="4434840"/>
          </a:xfrm>
          <a:prstGeom prst="roundRect">
            <a:avLst>
              <a:gd name="adj" fmla="val 1649"/>
            </a:avLst>
          </a:prstGeom>
          <a:solidFill>
            <a:srgbClr val="F5F7FA"/>
          </a:solidFill>
          <a:ln w="12700">
            <a:solidFill>
              <a:srgbClr val="E3E8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057400"/>
            <a:ext cx="777240" cy="777240"/>
          </a:xfrm>
          <a:prstGeom prst="ellipse">
            <a:avLst/>
          </a:prstGeom>
          <a:solidFill>
            <a:srgbClr val="F44749"/>
          </a:solidFill>
          <a:ln/>
        </p:spPr>
      </p:sp>
      <p:pic>
        <p:nvPicPr>
          <p:cNvPr id="6" name="Image 0" descr="C:\Users\liyon\AppData\Local\Temp\claude\C--Users-liyon-Personal-MCA-PROJECT-drug-project--2--drug-project-drugrecomendation\9da8fb70-ea4c-4cf2-953c-5bcd9131f7d4\scratchpad\pptgen\icons\pat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881" y="2158441"/>
            <a:ext cx="575158" cy="5751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1031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920240" y="2414016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/doctorlist/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0" y="2057400"/>
            <a:ext cx="777240" cy="777240"/>
          </a:xfrm>
          <a:prstGeom prst="ellipse">
            <a:avLst/>
          </a:prstGeom>
          <a:solidFill>
            <a:srgbClr val="2F6E71"/>
          </a:solidFill>
          <a:ln/>
        </p:spPr>
      </p:sp>
      <p:pic>
        <p:nvPicPr>
          <p:cNvPr id="10" name="Image 1" descr="C:\Users\liyon\AppData\Local\Temp\claude\C--Users-liyon-Personal-MCA-PROJECT-drug-project--2--drug-project-drugrecomendation\9da8fb70-ea4c-4cf2-953c-5bcd9131f7d4\scratchpad\pptgen\icons\do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041" y="2158441"/>
            <a:ext cx="575158" cy="57515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21031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069080" y="241401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/userlist/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880360" y="3063240"/>
            <a:ext cx="640080" cy="640080"/>
          </a:xfrm>
          <a:prstGeom prst="ellipse">
            <a:avLst/>
          </a:prstGeom>
          <a:solidFill>
            <a:srgbClr val="0F2A43"/>
          </a:solidFill>
          <a:ln/>
        </p:spPr>
      </p:sp>
      <p:pic>
        <p:nvPicPr>
          <p:cNvPr id="14" name="Image 2" descr="C:\Users\liyon\AppData\Local\Temp\claude\C--Users-liyon-Personal-MCA-PROJECT-drug-project--2--drug-project-drugrecomendation\9da8fb70-ea4c-4cf2-953c-5bcd9131f7d4\scratchpad\pptgen\icons\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3570" y="3146450"/>
            <a:ext cx="473659" cy="473659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1783080" y="3383280"/>
            <a:ext cx="1051560" cy="0"/>
          </a:xfrm>
          <a:prstGeom prst="line">
            <a:avLst/>
          </a:prstGeom>
          <a:noFill/>
          <a:ln w="25400">
            <a:solidFill>
              <a:srgbClr val="F44749"/>
            </a:solidFill>
            <a:prstDash val="dash"/>
          </a:ln>
        </p:spPr>
      </p:sp>
      <p:sp>
        <p:nvSpPr>
          <p:cNvPr id="16" name="Shape 11"/>
          <p:cNvSpPr/>
          <p:nvPr/>
        </p:nvSpPr>
        <p:spPr>
          <a:xfrm>
            <a:off x="4160520" y="3383280"/>
            <a:ext cx="1051560" cy="0"/>
          </a:xfrm>
          <a:prstGeom prst="line">
            <a:avLst/>
          </a:prstGeom>
          <a:noFill/>
          <a:ln w="25400">
            <a:solidFill>
              <a:srgbClr val="2F6E71"/>
            </a:solidFill>
            <a:prstDash val="dash"/>
          </a:ln>
        </p:spPr>
      </p:sp>
      <p:sp>
        <p:nvSpPr>
          <p:cNvPr id="17" name="Shape 12"/>
          <p:cNvSpPr/>
          <p:nvPr/>
        </p:nvSpPr>
        <p:spPr>
          <a:xfrm>
            <a:off x="960120" y="4160520"/>
            <a:ext cx="91440" cy="91440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18" name="Text 13"/>
          <p:cNvSpPr/>
          <p:nvPr/>
        </p:nvSpPr>
        <p:spPr>
          <a:xfrm>
            <a:off x="1188720" y="4041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chatm table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3154680" y="4041648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(patient, doctor, day) — opens a daily thread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60120" y="4782312"/>
            <a:ext cx="91440" cy="91440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1" name="Text 16"/>
          <p:cNvSpPr/>
          <p:nvPr/>
        </p:nvSpPr>
        <p:spPr>
          <a:xfrm>
            <a:off x="1188720" y="46634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chats table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3154680" y="466344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message, tagged typ = 'user' or 'doctor'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960120" y="5404104"/>
            <a:ext cx="91440" cy="91440"/>
          </a:xfrm>
          <a:prstGeom prst="ellipse">
            <a:avLst/>
          </a:prstGeom>
          <a:solidFill>
            <a:srgbClr val="F44749"/>
          </a:solidFill>
          <a:ln/>
        </p:spPr>
      </p:sp>
      <p:sp>
        <p:nvSpPr>
          <p:cNvPr id="24" name="Text 19"/>
          <p:cNvSpPr/>
          <p:nvPr/>
        </p:nvSpPr>
        <p:spPr>
          <a:xfrm>
            <a:off x="1188720" y="52852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thread view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3154680" y="5285232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re-join and read the full history back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391656" y="1682496"/>
            <a:ext cx="5230368" cy="4544568"/>
          </a:xfrm>
          <a:prstGeom prst="roundRect">
            <a:avLst>
              <a:gd name="adj" fmla="val 1811"/>
            </a:avLst>
          </a:prstGeom>
          <a:solidFill>
            <a:srgbClr val="FFFFFF"/>
          </a:solidFill>
          <a:ln w="12700">
            <a:solidFill>
              <a:srgbClr val="E3E8ED"/>
            </a:solidFill>
            <a:prstDash val="solid"/>
          </a:ln>
          <a:effectLst>
            <a:outerShdw blurRad="228600" dist="76200" dir="5400000" algn="bl" rotWithShape="0">
              <a:srgbClr val="1B2733">
                <a:alpha val="2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446520" y="1737360"/>
            <a:ext cx="5120640" cy="256032"/>
          </a:xfrm>
          <a:prstGeom prst="roundRect">
            <a:avLst>
              <a:gd name="adj" fmla="val 17857"/>
            </a:avLst>
          </a:prstGeom>
          <a:solidFill>
            <a:srgbClr val="E7EBEF"/>
          </a:solidFill>
          <a:ln/>
        </p:spPr>
      </p:sp>
      <p:sp>
        <p:nvSpPr>
          <p:cNvPr id="28" name="Shape 23"/>
          <p:cNvSpPr/>
          <p:nvPr/>
        </p:nvSpPr>
        <p:spPr>
          <a:xfrm>
            <a:off x="6556248" y="1824228"/>
            <a:ext cx="82296" cy="82296"/>
          </a:xfrm>
          <a:prstGeom prst="ellipse">
            <a:avLst/>
          </a:prstGeom>
          <a:solidFill>
            <a:srgbClr val="E06258"/>
          </a:solidFill>
          <a:ln/>
        </p:spPr>
      </p:sp>
      <p:sp>
        <p:nvSpPr>
          <p:cNvPr id="29" name="Shape 24"/>
          <p:cNvSpPr/>
          <p:nvPr/>
        </p:nvSpPr>
        <p:spPr>
          <a:xfrm>
            <a:off x="6729984" y="1824228"/>
            <a:ext cx="82296" cy="82296"/>
          </a:xfrm>
          <a:prstGeom prst="ellipse">
            <a:avLst/>
          </a:prstGeom>
          <a:solidFill>
            <a:srgbClr val="F0BC4C"/>
          </a:solidFill>
          <a:ln/>
        </p:spPr>
      </p:sp>
      <p:sp>
        <p:nvSpPr>
          <p:cNvPr id="30" name="Shape 25"/>
          <p:cNvSpPr/>
          <p:nvPr/>
        </p:nvSpPr>
        <p:spPr>
          <a:xfrm>
            <a:off x="6903720" y="1824228"/>
            <a:ext cx="82296" cy="82296"/>
          </a:xfrm>
          <a:prstGeom prst="ellipse">
            <a:avLst/>
          </a:prstGeom>
          <a:solidFill>
            <a:srgbClr val="63C368"/>
          </a:solidFill>
          <a:ln/>
        </p:spPr>
      </p:sp>
      <p:pic>
        <p:nvPicPr>
          <p:cNvPr id="31" name="Image 3" descr="C:\Users\liyon\AppData\Local\Temp\claude\C--Users-liyon-Personal-MCA-PROJECT-drug-project--2--drug-project-drugrecomendation\9da8fb70-ea4c-4cf2-953c-5bcd9131f7d4\scratchpad\pptgen\shots\06_user_doctorlist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46520" y="1993392"/>
            <a:ext cx="5120640" cy="417880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447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Estimation — Basic COCOMO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is classified as an Organic-type system per Boehm's COCOMO model — small team, well-understood problem domain. Applying the Basic COCOMO formulas to the application's own measured source size gives: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615184" cy="1874520"/>
          </a:xfrm>
          <a:prstGeom prst="roundRect">
            <a:avLst>
              <a:gd name="adj" fmla="val 3902"/>
            </a:avLst>
          </a:prstGeom>
          <a:solidFill>
            <a:srgbClr val="0F2A4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41448"/>
            <a:ext cx="261518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KLOC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23408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source size (Python)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2615184" cy="1874520"/>
          </a:xfrm>
          <a:prstGeom prst="roundRect">
            <a:avLst>
              <a:gd name="adj" fmla="val 3902"/>
            </a:avLst>
          </a:prstGeom>
          <a:solidFill>
            <a:srgbClr val="F44749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2441448"/>
            <a:ext cx="261518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74720" y="31546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PERSON-MONTHS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11880" y="3520440"/>
            <a:ext cx="23408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= 2.4 × (KLOC)^1.05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09360" y="2240280"/>
            <a:ext cx="2615184" cy="1874520"/>
          </a:xfrm>
          <a:prstGeom prst="roundRect">
            <a:avLst>
              <a:gd name="adj" fmla="val 3902"/>
            </a:avLst>
          </a:prstGeom>
          <a:solidFill>
            <a:srgbClr val="0F2A43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441448"/>
            <a:ext cx="261518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309360" y="31546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3520440"/>
            <a:ext cx="23408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= 2.5 × (Effort)^0.38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44000" y="2240280"/>
            <a:ext cx="2615184" cy="1874520"/>
          </a:xfrm>
          <a:prstGeom prst="roundRect">
            <a:avLst>
              <a:gd name="adj" fmla="val 3902"/>
            </a:avLst>
          </a:prstGeom>
          <a:solidFill>
            <a:srgbClr val="0F2A43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2441448"/>
            <a:ext cx="261518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144000" y="31546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81160" y="3520440"/>
            <a:ext cx="23408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50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size = Effort ÷ Schedule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40080" y="443484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F5F7FA"/>
          </a:solidFill>
          <a:ln w="12700">
            <a:solidFill>
              <a:srgbClr val="E3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700016"/>
            <a:ext cx="685800" cy="685800"/>
          </a:xfrm>
          <a:prstGeom prst="ellipse">
            <a:avLst/>
          </a:prstGeom>
          <a:solidFill>
            <a:srgbClr val="2F6E71"/>
          </a:solidFill>
          <a:ln/>
        </p:spPr>
      </p:sp>
      <p:pic>
        <p:nvPicPr>
          <p:cNvPr id="23" name="Image 0" descr="C:\Users\liyon\AppData\Local\Temp\claude\C--Users-liyon-Personal-MCA-PROJECT-drug-project--2--drug-project-drugrecomendation\9da8fb70-ea4c-4cf2-953c-5bcd9131f7d4\scratchpad\pptgen\icons\moneybi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554" y="4789170"/>
            <a:ext cx="507492" cy="50749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783080" y="46451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Monetary Cost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783080" y="4983480"/>
            <a:ext cx="9052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software licensing cost — the stack (Python, Django, MySQL) is entirely free &amp; open-source. Only depreciation on existing development hardware applies, per the report's Economic Feasibility analysis.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Recommendation System — Project Presentation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377440"/>
            <a:ext cx="5943600" cy="5943600"/>
          </a:xfrm>
          <a:prstGeom prst="ellipse">
            <a:avLst/>
          </a:prstGeom>
          <a:solidFill>
            <a:srgbClr val="0A1D2E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5486400" cy="5486400"/>
          </a:xfrm>
          <a:prstGeom prst="ellipse">
            <a:avLst/>
          </a:prstGeom>
          <a:solidFill>
            <a:srgbClr val="2F6E7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WRAPPING UP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Testing, Future Scope &amp; Conclusion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PERFORMED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502920" cy="502920"/>
          </a:xfrm>
          <a:prstGeom prst="ellipse">
            <a:avLst/>
          </a:prstGeom>
          <a:solidFill>
            <a:srgbClr val="16324C"/>
          </a:solidFill>
          <a:ln/>
        </p:spPr>
      </p:sp>
      <p:pic>
        <p:nvPicPr>
          <p:cNvPr id="8" name="Image 0" descr="C:\Users\liyon\AppData\Local\Temp\claude\C--Users-liyon-Personal-MCA-PROJECT-drug-project--2--drug-project-drugrecomendation\9da8fb70-ea4c-4cf2-953c-5bcd9131f7d4\scratchpad\pptgen\icons\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60" y="2214220"/>
            <a:ext cx="372161" cy="37216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213055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80160" y="239572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view tested in isolation during coding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rgbClr val="16324C"/>
          </a:solidFill>
          <a:ln/>
        </p:spPr>
      </p:sp>
      <p:pic>
        <p:nvPicPr>
          <p:cNvPr id="12" name="Image 1" descr="C:\Users\liyon\AppData\Local\Temp\claude\C--Users-liyon-Personal-MCA-PROJECT-drug-project--2--drug-project-drugrecomendation\9da8fb70-ea4c-4cf2-953c-5bcd9131f7d4\scratchpad\pptgen\icons\exch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460" y="2991460"/>
            <a:ext cx="372161" cy="37216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80160" y="29077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1280160" y="31729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User, admin, company &amp; doctor modules combined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16324C"/>
          </a:solidFill>
          <a:ln/>
        </p:spPr>
      </p:sp>
      <p:pic>
        <p:nvPicPr>
          <p:cNvPr id="16" name="Image 2" descr="C:\Users\liyon\AppData\Local\Temp\claude\C--Users-liyon-Personal-MCA-PROJECT-drug-project--2--drug-project-drugrecomendation\9da8fb70-ea4c-4cf2-953c-5bcd9131f7d4\scratchpad\pptgen\icons\shieldA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460" y="3768700"/>
            <a:ext cx="372161" cy="37216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36850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Recovery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80160" y="395020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session and failure-recovery checks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263640" y="1691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3A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63640" y="2148840"/>
            <a:ext cx="502920" cy="502920"/>
          </a:xfrm>
          <a:prstGeom prst="ellipse">
            <a:avLst/>
          </a:prstGeom>
          <a:solidFill>
            <a:srgbClr val="16324C"/>
          </a:solidFill>
          <a:ln/>
        </p:spPr>
      </p:sp>
      <p:pic>
        <p:nvPicPr>
          <p:cNvPr id="21" name="Image 3" descr="C:\Users\liyon\AppData\Local\Temp\claude\C--Users-liyon-Personal-MCA-PROJECT-drug-project--2--drug-project-drugrecomendation\9da8fb70-ea4c-4cf2-953c-5bcd9131f7d4\scratchpad\pptgen\icons\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020" y="2214220"/>
            <a:ext cx="372161" cy="37216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03720" y="213055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ML Personalisation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903720" y="239572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individual patient preference over time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6263640" y="2926080"/>
            <a:ext cx="502920" cy="502920"/>
          </a:xfrm>
          <a:prstGeom prst="ellipse">
            <a:avLst/>
          </a:prstGeom>
          <a:solidFill>
            <a:srgbClr val="16324C"/>
          </a:solidFill>
          <a:ln/>
        </p:spPr>
      </p:sp>
      <p:pic>
        <p:nvPicPr>
          <p:cNvPr id="25" name="Image 4" descr="C:\Users\liyon\AppData\Local\Temp\claude\C--Users-liyon-Personal-MCA-PROJECT-drug-project--2--drug-project-drugrecomendation\9da8fb70-ea4c-4cf2-953c-5bcd9131f7d4\scratchpad\pptgen\icons\cha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9020" y="2991460"/>
            <a:ext cx="372161" cy="37216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903720" y="29077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NLP-Powered Chatbot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903720" y="31729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automated support alongside live doctors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6263640" y="3703320"/>
            <a:ext cx="502920" cy="502920"/>
          </a:xfrm>
          <a:prstGeom prst="ellipse">
            <a:avLst/>
          </a:prstGeom>
          <a:solidFill>
            <a:srgbClr val="16324C"/>
          </a:solidFill>
          <a:ln/>
        </p:spPr>
      </p:sp>
      <p:pic>
        <p:nvPicPr>
          <p:cNvPr id="29" name="Image 5" descr="C:\Users\liyon\AppData\Local\Temp\claude\C--Users-liyon-Personal-MCA-PROJECT-drug-project--2--drug-project-drugrecomendation\9da8fb70-ea4c-4cf2-953c-5bcd9131f7d4\scratchpad\pptgen\icons\rocke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9020" y="3768700"/>
            <a:ext cx="372161" cy="372161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903720" y="36850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E-Pharmacy Integration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6903720" y="395020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ordering directly from a recommendation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640080" y="4663440"/>
            <a:ext cx="10881360" cy="0"/>
          </a:xfrm>
          <a:prstGeom prst="line">
            <a:avLst/>
          </a:prstGeom>
          <a:noFill/>
          <a:ln w="12700">
            <a:solidFill>
              <a:srgbClr val="24486A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640080" y="489204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D6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Drug Recommendation System demonstrates a working, role-based healthcare platform that turns unstructured patient reviews into ranked, actionable medicine recommendations — while keeping a real doctor one chat away.</a:t>
            </a:r>
            <a:endParaRPr lang="en-US" sz="1400" dirty="0"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1014</Words>
  <Application>Microsoft Office PowerPoint</Application>
  <PresentationFormat>Widescreen</PresentationFormat>
  <Paragraphs>181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Liyona Johny</cp:lastModifiedBy>
  <cp:revision>2</cp:revision>
  <dcterms:created xsi:type="dcterms:W3CDTF">2026-08-17T22:19:22Z</dcterms:created>
  <dcterms:modified xsi:type="dcterms:W3CDTF">2026-08-18T03:57:22Z</dcterms:modified>
</cp:coreProperties>
</file>
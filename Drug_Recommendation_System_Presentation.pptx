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0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49808" cy="749808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p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5" y="874715"/>
            <a:ext cx="554858" cy="554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PROJECT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Recommendation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AI-driven, symptom-based medicine recommendation platform with sentiment-analysed reviews and real-time doctor consultation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2700">
            <a:solidFill>
              <a:srgbClr val="2B4A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Liyona Johny</a:t>
            </a:r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(Reg. No. 2004425347)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559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Jisha Soman</a:t>
            </a:r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Dept. of Computer Applications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852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S.H. College (MCA Programme) · Mahatma Gandhi University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8892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2084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Sentiment 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Drug Recommendation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medication is complex — it depends on a patient's condition, history and side-effects. Physicians face an overwhelming volume of clinical data, while patients' own reviews go largely unused because reading them by hand doesn't scale.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4114800"/>
            <a:ext cx="4526280" cy="0"/>
          </a:xfrm>
          <a:prstGeom prst="line">
            <a:avLst/>
          </a:prstGeom>
          <a:noFill/>
          <a:ln w="12700">
            <a:solidFill>
              <a:srgbClr val="244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29768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emergencies — pandemics, floods, disasters — patients often can't reach a doctor at all. A data-driven system can recommend safe medication instantly, and still connect them to a real doctor by chat when they need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0" name="Image 0" descr="C:\Users\liyon\AppData\Local\Temp\claude\C--Users-liyon-Personal-MCA-PROJECT-drug-project--2--drug-project-drugrecomendation\9da8fb70-ea4c-4cf2-953c-5bcd9131f7d4\scratchpad\pptgen\icons\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523" y="1671523"/>
            <a:ext cx="405994" cy="40599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819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Recommendations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03720" y="18928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drug suggestions to patient-specific symptoms and review sentiment, not generic listings.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2715768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4" name="Image 1" descr="C:\Users\liyon\AppData\Local\Temp\claude\C--Users-liyon-Personal-MCA-PROJECT-drug-project--2--drug-project-drugrecomendation\9da8fb70-ea4c-4cf2-953c-5bcd9131f7d4\scratchpad\pptgen\icons\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523" y="278709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Driven Accuracy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903720" y="300837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real patient reviews with NLP so higher-rated medicines surface first.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72200" y="3831336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8" name="Image 2" descr="C:\Users\liyon\AppData\Local\Temp\claude\C--Users-liyon-Personal-MCA-PROJECT-drug-project--2--drug-project-drugrecomendation\9da8fb70-ea4c-4cf2-953c-5bcd9131f7d4\scratchpad\pptgen\icons\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23" y="3902659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Support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903720" y="412394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patients consult specialised doctors in real time through built-in chat.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72200" y="4946904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22" name="Image 3" descr="C:\Users\liyon\AppData\Local\Temp\claude\C--Users-liyon-Personal-MCA-PROJECT-drug-project--2--drug-project-drugrecomendation\9da8fb70-ea4c-4cf2-953c-5bcd9131f7d4\scratchpad\pptgen\icons\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523" y="5018227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9286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&amp; Security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903720" y="52395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patient, doctor and company records reliable and access-controlled.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vs. the Proposed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47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78024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68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WebMD / Drugs.com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6426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drug information — no personalisation to the patient.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364992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552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1mg / Netmeds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5295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 only; still requires an existing prescription.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42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Health (symptom checkers)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416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conditions but never suggests actual medication.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5138928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Practo-style telemedicine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5303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depends on a live doctor — no help when one isn't reachable.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A4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478024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68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+ sentiment driven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6426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NLTK-based analysis of patient reviews computes a live 1–5 star rating per medicine.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3364992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2552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always-available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5295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don't wait on physician availability — critical during emergencies.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4251960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142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doctor chat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4416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still reach real specialists for cases the algorithm shouldn't decide alone.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5138928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5303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approval-gated portals for Admin, Company, Doctor and Patient.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8823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196193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+ Bootstrap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691640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 for Admin, User, Company &amp; Doctor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16352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012948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2" name="Image 1" descr="C:\Users\liyon\AppData\Local\Temp\claude\C--Users-liyon-Personal-MCA-PROJECT-drug-project--2--drug-project-drugrecomendation\9da8fb70-ea4c-4cf2-953c-5bcd9131f7d4\scratchpad\pptgen\icons\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81" y="3086649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352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91640" y="32735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4.0.4 Views (Python 3.9)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2816352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session-based auth, business logic per actor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137660"/>
            <a:ext cx="566928" cy="566928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8" name="Image 2" descr="C:\Users\liyon\AppData\Local\Temp\claude\C--Users-liyon-Personal-MCA-PROJECT-drug-project--2--drug-project-drugrecomendation\9da8fb70-ea4c-4cf2-953c-5bcd9131f7d4\scratchpad\pptgen\icons\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81" y="4211361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599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91640" y="43982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— tokenising, POS-tagging, stemming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2040" y="3941064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free-text reviews into a sentiment-based star rating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5262372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4" name="Image 3" descr="C:\Users\liyon\AppData\Local\Temp\claude\C--Users-liyon-Personal-MCA-PROJECT-drug-project--2--drug-project-drugrecomendation\9da8fb70-ea4c-4cf2-953c-5bcd9131f7d4\scratchpad\pptgen\icons\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1" y="5336073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846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691640" y="55229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2040" y="5065776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companies, doctors, medicines, reviews &amp; chat history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Actors, One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6324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0F2A4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04872"/>
            <a:ext cx="2615184" cy="70408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7" name="Shape 5"/>
          <p:cNvSpPr/>
          <p:nvPr/>
        </p:nvSpPr>
        <p:spPr>
          <a:xfrm>
            <a:off x="1563624" y="1947672"/>
            <a:ext cx="768096" cy="768096"/>
          </a:xfrm>
          <a:prstGeom prst="ellipse">
            <a:avLst/>
          </a:prstGeom>
          <a:solidFill>
            <a:srgbClr val="0A1D2E"/>
          </a:solidFill>
          <a:ln/>
        </p:spPr>
      </p:sp>
      <p:pic>
        <p:nvPicPr>
          <p:cNvPr id="8" name="Image 0" descr="C:\Users\liyon\AppData\Local\Temp\claude\C--Users-liyon-Personal-MCA-PROJECT-drug-project--2--drug-project-drugrecomendation\9da8fb70-ea4c-4cf2-953c-5bcd9131f7d4\scratchpad\pptgen\icons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476" y="2047524"/>
            <a:ext cx="568391" cy="5683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41248" y="3767328"/>
            <a:ext cx="64008" cy="6400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/ rejects company &amp; doctor sign-ups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841248" y="4517136"/>
            <a:ext cx="64008" cy="6400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medicines, users &amp; feedback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841248" y="5266944"/>
            <a:ext cx="64008" cy="6400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 point for platform integrity</a:t>
            </a:r>
            <a:endParaRPr lang="en-US" sz="1070" dirty="0"/>
          </a:p>
        </p:txBody>
      </p:sp>
      <p:sp>
        <p:nvSpPr>
          <p:cNvPr id="16" name="Shape 13"/>
          <p:cNvSpPr/>
          <p:nvPr/>
        </p:nvSpPr>
        <p:spPr>
          <a:xfrm>
            <a:off x="347472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6324C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44749"/>
          </a:solidFill>
          <a:ln/>
        </p:spPr>
      </p:sp>
      <p:sp>
        <p:nvSpPr>
          <p:cNvPr id="18" name="Shape 15"/>
          <p:cNvSpPr/>
          <p:nvPr/>
        </p:nvSpPr>
        <p:spPr>
          <a:xfrm>
            <a:off x="3474720" y="2404872"/>
            <a:ext cx="2615184" cy="704088"/>
          </a:xfrm>
          <a:prstGeom prst="rect">
            <a:avLst/>
          </a:prstGeom>
          <a:solidFill>
            <a:srgbClr val="F44749"/>
          </a:solidFill>
          <a:ln/>
        </p:spPr>
      </p:sp>
      <p:sp>
        <p:nvSpPr>
          <p:cNvPr id="19" name="Shape 16"/>
          <p:cNvSpPr/>
          <p:nvPr/>
        </p:nvSpPr>
        <p:spPr>
          <a:xfrm>
            <a:off x="4398264" y="1947672"/>
            <a:ext cx="768096" cy="76809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1" descr="C:\Users\liyon\AppData\Local\Temp\claude\C--Users-liyon-Personal-MCA-PROJECT-drug-project--2--drug-project-drugrecomendation\9da8fb70-ea4c-4cf2-953c-5bcd9131f7d4\scratchpad\pptgen\icons\pat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116" y="2047524"/>
            <a:ext cx="568391" cy="56839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7472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(User)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3675888" y="3767328"/>
            <a:ext cx="64008" cy="64008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3" name="Text 19"/>
          <p:cNvSpPr/>
          <p:nvPr/>
        </p:nvSpPr>
        <p:spPr>
          <a:xfrm>
            <a:off x="384048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freely, browses &amp; searches medicines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3675888" y="4517136"/>
            <a:ext cx="64008" cy="64008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5" name="Text 21"/>
          <p:cNvSpPr/>
          <p:nvPr/>
        </p:nvSpPr>
        <p:spPr>
          <a:xfrm>
            <a:off x="384048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reviews — auto-rated by sentiment analysis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3675888" y="5266944"/>
            <a:ext cx="64008" cy="64008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7" name="Text 23"/>
          <p:cNvSpPr/>
          <p:nvPr/>
        </p:nvSpPr>
        <p:spPr>
          <a:xfrm>
            <a:off x="384048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live with doctors, files feedback</a:t>
            </a:r>
            <a:endParaRPr lang="en-US" sz="1070" dirty="0"/>
          </a:p>
        </p:txBody>
      </p:sp>
      <p:sp>
        <p:nvSpPr>
          <p:cNvPr id="28" name="Shape 24"/>
          <p:cNvSpPr/>
          <p:nvPr/>
        </p:nvSpPr>
        <p:spPr>
          <a:xfrm>
            <a:off x="630936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6324C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0936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2F6E71"/>
          </a:solidFill>
          <a:ln/>
        </p:spPr>
      </p:sp>
      <p:sp>
        <p:nvSpPr>
          <p:cNvPr id="30" name="Shape 26"/>
          <p:cNvSpPr/>
          <p:nvPr/>
        </p:nvSpPr>
        <p:spPr>
          <a:xfrm>
            <a:off x="6309360" y="2404872"/>
            <a:ext cx="2615184" cy="704088"/>
          </a:xfrm>
          <a:prstGeom prst="rect">
            <a:avLst/>
          </a:prstGeom>
          <a:solidFill>
            <a:srgbClr val="2F6E71"/>
          </a:solidFill>
          <a:ln/>
        </p:spPr>
      </p:sp>
      <p:sp>
        <p:nvSpPr>
          <p:cNvPr id="31" name="Shape 27"/>
          <p:cNvSpPr/>
          <p:nvPr/>
        </p:nvSpPr>
        <p:spPr>
          <a:xfrm>
            <a:off x="7232904" y="1947672"/>
            <a:ext cx="768096" cy="768096"/>
          </a:xfrm>
          <a:prstGeom prst="ellipse">
            <a:avLst/>
          </a:prstGeom>
          <a:solidFill>
            <a:srgbClr val="1F4E50"/>
          </a:solidFill>
          <a:ln/>
        </p:spPr>
      </p:sp>
      <p:pic>
        <p:nvPicPr>
          <p:cNvPr id="32" name="Image 2" descr="C:\Users\liyon\AppData\Local\Temp\claude\C--Users-liyon-Personal-MCA-PROJECT-drug-project--2--drug-project-drugrecomendation\9da8fb70-ea4c-4cf2-953c-5bcd9131f7d4\scratchpad\pptgen\icons\compan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756" y="2047524"/>
            <a:ext cx="568391" cy="56839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Company</a:t>
            </a:r>
            <a:endParaRPr lang="en-US" sz="1550" dirty="0"/>
          </a:p>
        </p:txBody>
      </p:sp>
      <p:sp>
        <p:nvSpPr>
          <p:cNvPr id="34" name="Shape 29"/>
          <p:cNvSpPr/>
          <p:nvPr/>
        </p:nvSpPr>
        <p:spPr>
          <a:xfrm>
            <a:off x="6510528" y="3767328"/>
            <a:ext cx="64008" cy="64008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35" name="Text 30"/>
          <p:cNvSpPr/>
          <p:nvPr/>
        </p:nvSpPr>
        <p:spPr>
          <a:xfrm>
            <a:off x="667512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held pending until admin-approved</a:t>
            </a:r>
            <a:endParaRPr lang="en-US" sz="1070" dirty="0"/>
          </a:p>
        </p:txBody>
      </p:sp>
      <p:sp>
        <p:nvSpPr>
          <p:cNvPr id="36" name="Shape 31"/>
          <p:cNvSpPr/>
          <p:nvPr/>
        </p:nvSpPr>
        <p:spPr>
          <a:xfrm>
            <a:off x="6510528" y="4517136"/>
            <a:ext cx="64008" cy="64008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37" name="Text 32"/>
          <p:cNvSpPr/>
          <p:nvPr/>
        </p:nvSpPr>
        <p:spPr>
          <a:xfrm>
            <a:off x="667512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&amp; maintains medicine catalogue entries</a:t>
            </a:r>
            <a:endParaRPr lang="en-US" sz="1070" dirty="0"/>
          </a:p>
        </p:txBody>
      </p:sp>
      <p:sp>
        <p:nvSpPr>
          <p:cNvPr id="38" name="Shape 33"/>
          <p:cNvSpPr/>
          <p:nvPr/>
        </p:nvSpPr>
        <p:spPr>
          <a:xfrm>
            <a:off x="6510528" y="5266944"/>
            <a:ext cx="64008" cy="64008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39" name="Text 34"/>
          <p:cNvSpPr/>
          <p:nvPr/>
        </p:nvSpPr>
        <p:spPr>
          <a:xfrm>
            <a:off x="667512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its own company profile</a:t>
            </a:r>
            <a:endParaRPr lang="en-US" sz="1070" dirty="0"/>
          </a:p>
        </p:txBody>
      </p:sp>
      <p:sp>
        <p:nvSpPr>
          <p:cNvPr id="40" name="Shape 35"/>
          <p:cNvSpPr/>
          <p:nvPr/>
        </p:nvSpPr>
        <p:spPr>
          <a:xfrm>
            <a:off x="914400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16324C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914400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AF24"/>
          </a:solidFill>
          <a:ln/>
        </p:spPr>
      </p:sp>
      <p:sp>
        <p:nvSpPr>
          <p:cNvPr id="42" name="Shape 37"/>
          <p:cNvSpPr/>
          <p:nvPr/>
        </p:nvSpPr>
        <p:spPr>
          <a:xfrm>
            <a:off x="9144000" y="2404872"/>
            <a:ext cx="2615184" cy="704088"/>
          </a:xfrm>
          <a:prstGeom prst="rect">
            <a:avLst/>
          </a:prstGeom>
          <a:solidFill>
            <a:srgbClr val="F3AF24"/>
          </a:solidFill>
          <a:ln/>
        </p:spPr>
      </p:sp>
      <p:sp>
        <p:nvSpPr>
          <p:cNvPr id="43" name="Shape 38"/>
          <p:cNvSpPr/>
          <p:nvPr/>
        </p:nvSpPr>
        <p:spPr>
          <a:xfrm>
            <a:off x="10067544" y="1947672"/>
            <a:ext cx="768096" cy="768096"/>
          </a:xfrm>
          <a:prstGeom prst="ellipse">
            <a:avLst/>
          </a:prstGeom>
          <a:solidFill>
            <a:srgbClr val="C9860E"/>
          </a:solidFill>
          <a:ln/>
        </p:spPr>
      </p:sp>
      <p:pic>
        <p:nvPicPr>
          <p:cNvPr id="44" name="Image 3" descr="C:\Users\liyon\AppData\Local\Temp\claude\C--Users-liyon-Personal-MCA-PROJECT-drug-project--2--drug-project-drugrecomendation\9da8fb70-ea4c-4cf2-953c-5bcd9131f7d4\scratchpad\pptgen\icons\do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396" y="2047524"/>
            <a:ext cx="568391" cy="568391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14400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550" dirty="0"/>
          </a:p>
        </p:txBody>
      </p:sp>
      <p:sp>
        <p:nvSpPr>
          <p:cNvPr id="46" name="Shape 40"/>
          <p:cNvSpPr/>
          <p:nvPr/>
        </p:nvSpPr>
        <p:spPr>
          <a:xfrm>
            <a:off x="9345168" y="3767328"/>
            <a:ext cx="64008" cy="64008"/>
          </a:xfrm>
          <a:prstGeom prst="ellipse">
            <a:avLst/>
          </a:prstGeom>
          <a:solidFill>
            <a:srgbClr val="F3AF24"/>
          </a:solidFill>
          <a:ln/>
        </p:spPr>
      </p:sp>
      <p:sp>
        <p:nvSpPr>
          <p:cNvPr id="47" name="Text 41"/>
          <p:cNvSpPr/>
          <p:nvPr/>
        </p:nvSpPr>
        <p:spPr>
          <a:xfrm>
            <a:off x="950976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specialisation &amp; qualification</a:t>
            </a:r>
            <a:endParaRPr lang="en-US" sz="1070" dirty="0"/>
          </a:p>
        </p:txBody>
      </p:sp>
      <p:sp>
        <p:nvSpPr>
          <p:cNvPr id="48" name="Shape 42"/>
          <p:cNvSpPr/>
          <p:nvPr/>
        </p:nvSpPr>
        <p:spPr>
          <a:xfrm>
            <a:off x="9345168" y="4517136"/>
            <a:ext cx="64008" cy="64008"/>
          </a:xfrm>
          <a:prstGeom prst="ellipse">
            <a:avLst/>
          </a:prstGeom>
          <a:solidFill>
            <a:srgbClr val="F3AF24"/>
          </a:solidFill>
          <a:ln/>
        </p:spPr>
      </p:sp>
      <p:sp>
        <p:nvSpPr>
          <p:cNvPr id="49" name="Text 43"/>
          <p:cNvSpPr/>
          <p:nvPr/>
        </p:nvSpPr>
        <p:spPr>
          <a:xfrm>
            <a:off x="950976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patient chat consultations</a:t>
            </a:r>
            <a:endParaRPr lang="en-US" sz="1070" dirty="0"/>
          </a:p>
        </p:txBody>
      </p:sp>
      <p:sp>
        <p:nvSpPr>
          <p:cNvPr id="50" name="Shape 44"/>
          <p:cNvSpPr/>
          <p:nvPr/>
        </p:nvSpPr>
        <p:spPr>
          <a:xfrm>
            <a:off x="9345168" y="5266944"/>
            <a:ext cx="64008" cy="64008"/>
          </a:xfrm>
          <a:prstGeom prst="ellipse">
            <a:avLst/>
          </a:prstGeom>
          <a:solidFill>
            <a:srgbClr val="F3AF24"/>
          </a:solidFill>
          <a:ln/>
        </p:spPr>
      </p:sp>
      <p:sp>
        <p:nvSpPr>
          <p:cNvPr id="51" name="Text 45"/>
          <p:cNvSpPr/>
          <p:nvPr/>
        </p:nvSpPr>
        <p:spPr>
          <a:xfrm>
            <a:off x="950976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professional profile</a:t>
            </a:r>
            <a:endParaRPr lang="en-US" sz="1070" dirty="0"/>
          </a:p>
        </p:txBody>
      </p:sp>
      <p:sp>
        <p:nvSpPr>
          <p:cNvPr id="52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 ·1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Registration, Approval &amp; Role-Based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282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Company / Doctor signs up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081528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569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8712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Doctor start as unapproved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922776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4107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from the admin panel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4764024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251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553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form authenticates every role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5093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394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straight to the matching home screen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91656" y="1728216"/>
            <a:ext cx="5230368" cy="271576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228600" dist="76200" dir="5400000">
              <a:srgbClr val="1B2733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1783080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6248" y="186994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9984" y="186994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186994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33" name="Image 0" descr="C:\Users\liyon\AppData\Local\Temp\claude\C--Users-liyon-Personal-MCA-PROJECT-drug-project--2--drug-project-drugrecomendation\9da8fb70-ea4c-4cf2-953c-5bcd9131f7d4\scratchpad\pptgen\shots\02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2039112"/>
            <a:ext cx="5120640" cy="235000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391656" y="4471416"/>
            <a:ext cx="5230368" cy="1527048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228600" dist="76200" dir="5400000">
              <a:srgbClr val="1B2733">
                <a:alpha val="2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46520" y="4526280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36" name="Shape 33"/>
          <p:cNvSpPr/>
          <p:nvPr/>
        </p:nvSpPr>
        <p:spPr>
          <a:xfrm>
            <a:off x="6556248" y="461314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37" name="Shape 34"/>
          <p:cNvSpPr/>
          <p:nvPr/>
        </p:nvSpPr>
        <p:spPr>
          <a:xfrm>
            <a:off x="6729984" y="461314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38" name="Shape 35"/>
          <p:cNvSpPr/>
          <p:nvPr/>
        </p:nvSpPr>
        <p:spPr>
          <a:xfrm>
            <a:off x="6903720" y="461314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39" name="Image 1" descr="C:\Users\liyon\AppData\Local\Temp\claude\C--Users-liyon-Personal-MCA-PROJECT-drug-project--2--drug-project-drugrecomendation\9da8fb70-ea4c-4cf2-953c-5bcd9131f7d4\scratchpad\pptgen\shots\04_admin_compani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4782312"/>
            <a:ext cx="5120640" cy="116128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446520" y="6053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 →  Admin's company-approval screen (real application screenshots)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 ·2 — CORE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AI-Driven, Sentiment-Based 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576" y="212396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67712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87168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54096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11" name="Image 1" descr="C:\Users\liyon\AppData\Local\Temp\claude\C--Users-liyon-Personal-MCA-PROJECT-drug-project--2--drug-project-drugrecomendation\9da8fb70-ea4c-4cf2-953c-5bcd9131f7d4\scratchpad\pptgen\icons\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664" y="2123968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42032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&amp; POS-Tag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14800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34256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01184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16" name="Image 2" descr="C:\Users\liyon\AppData\Local\Temp\claude\C--Users-liyon-Personal-MCA-PROJECT-drug-project--2--drug-project-drugrecomendation\9da8fb70-ea4c-4cf2-953c-5bcd9131f7d4\scratchpad\pptgen\icons\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752" y="2123968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0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(Porter Stemmer)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961888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81344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48272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21" name="Image 3" descr="C:\Users\liyon\AppData\Local\Temp\claude\C--Users-liyon-Personal-MCA-PROJECT-drug-project--2--drug-project-drugrecomendation\9da8fb70-ea4c-4cf2-953c-5bcd9131f7d4\scratchpad\pptgen\icons\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840" y="212396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vs. Lexicon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808976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028432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595360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26" name="Image 4" descr="C:\Users\liyon\AppData\Local\Temp\claude\C--Users-liyon-Personal-MCA-PROJECT-drug-project--2--drug-project-drugrecomendation\9da8fb70-ea4c-4cf2-953c-5bcd9131f7d4\scratchpad\pptgen\icons\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928" y="2123968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83296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656064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9875520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442448" y="2057400"/>
            <a:ext cx="512064" cy="512064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31" name="Image 5" descr="C:\Users\liyon\AppData\Local\Temp\claude\C--Users-liyon-Personal-MCA-PROJECT-drug-project--2--drug-project-drugrecomendation\9da8fb70-ea4c-4cf2-953c-5bcd9131f7d4\scratchpad\pptgen\icons\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016" y="2123968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0384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Rating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0080" y="361188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is tokenised and POS-tagged with NLTK, reduced to root words with a Porter Stemmer, then matched word-by-word against curated positive / negative lexicons. The resulting sentiment score is bucketed into a 1–5 star rating — stored automatically, without the patient ever picking a star themselves.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516636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0A1D2E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51663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rule: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are ranked by AVG(rating) DESC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medicines rated above 3 surface first, exactly as the report specifies.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7763256" y="3557016"/>
            <a:ext cx="3858768" cy="262432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228600" dist="76200" dir="5400000">
              <a:srgbClr val="1B2733">
                <a:alpha val="2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818120" y="361188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38" name="Shape 30"/>
          <p:cNvSpPr/>
          <p:nvPr/>
        </p:nvSpPr>
        <p:spPr>
          <a:xfrm>
            <a:off x="7927848" y="369874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39" name="Shape 31"/>
          <p:cNvSpPr/>
          <p:nvPr/>
        </p:nvSpPr>
        <p:spPr>
          <a:xfrm>
            <a:off x="8101584" y="369874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40" name="Shape 32"/>
          <p:cNvSpPr/>
          <p:nvPr/>
        </p:nvSpPr>
        <p:spPr>
          <a:xfrm>
            <a:off x="8275320" y="369874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41" name="Image 6" descr="C:\Users\liyon\AppData\Local\Temp\claude\C--Users-liyon-Personal-MCA-PROJECT-drug-project--2--drug-project-drugrecomendation\9da8fb70-ea4c-4cf2-953c-5bcd9131f7d4\scratchpad\pptgen\shots\06_user_doctorlist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818120" y="3867912"/>
            <a:ext cx="3749040" cy="22585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 ·3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Patient ↔ Doctor Chat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57400"/>
            <a:ext cx="777240" cy="7772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81" y="21584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20240" y="2414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/doctorlist/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2057400"/>
            <a:ext cx="777240" cy="777240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10" name="Image 1" descr="C:\Users\liyon\AppData\Local\Temp\claude\C--Users-liyon-Personal-MCA-PROJECT-drug-project--2--drug-project-drugrecomendation\9da8fb70-ea4c-4cf2-953c-5bcd9131f7d4\scratchpad\pptgen\icons\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041" y="215844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069080" y="2414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/userlist/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880360" y="306324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4" name="Image 2" descr="C:\Users\liyon\AppData\Local\Temp\claude\C--Users-liyon-Personal-MCA-PROJECT-drug-project--2--drug-project-drugrecomendation\9da8fb70-ea4c-4cf2-953c-5bcd9131f7d4\scratchpad\pptgen\icons\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570" y="3146450"/>
            <a:ext cx="473659" cy="47365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783080" y="3383280"/>
            <a:ext cx="1051560" cy="0"/>
          </a:xfrm>
          <a:prstGeom prst="line">
            <a:avLst/>
          </a:prstGeom>
          <a:noFill/>
          <a:ln w="25400">
            <a:solidFill>
              <a:srgbClr val="F44749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4160520" y="3383280"/>
            <a:ext cx="1051560" cy="0"/>
          </a:xfrm>
          <a:prstGeom prst="line">
            <a:avLst/>
          </a:prstGeom>
          <a:noFill/>
          <a:ln w="25400">
            <a:solidFill>
              <a:srgbClr val="2F6E71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960120" y="4160520"/>
            <a:ext cx="91440" cy="9144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18" name="Text 13"/>
          <p:cNvSpPr/>
          <p:nvPr/>
        </p:nvSpPr>
        <p:spPr>
          <a:xfrm>
            <a:off x="1188720" y="4041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 table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154680" y="40416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(patient, doctor, day) — opens a daily thread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60120" y="4782312"/>
            <a:ext cx="91440" cy="9144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1" name="Text 16"/>
          <p:cNvSpPr/>
          <p:nvPr/>
        </p:nvSpPr>
        <p:spPr>
          <a:xfrm>
            <a:off x="1188720" y="4663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table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154680" y="4663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tagged typ = 'user' or 'doctor'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60120" y="5404104"/>
            <a:ext cx="91440" cy="9144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4" name="Text 19"/>
          <p:cNvSpPr/>
          <p:nvPr/>
        </p:nvSpPr>
        <p:spPr>
          <a:xfrm>
            <a:off x="1188720" y="5285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thread view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54680" y="52852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re-join and read the full history back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391656" y="1682496"/>
            <a:ext cx="5230368" cy="4544568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228600" dist="76200" dir="5400000">
              <a:srgbClr val="1B2733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46520" y="1737360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28" name="Shape 23"/>
          <p:cNvSpPr/>
          <p:nvPr/>
        </p:nvSpPr>
        <p:spPr>
          <a:xfrm>
            <a:off x="6556248" y="182422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29" name="Shape 24"/>
          <p:cNvSpPr/>
          <p:nvPr/>
        </p:nvSpPr>
        <p:spPr>
          <a:xfrm>
            <a:off x="6729984" y="182422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30" name="Shape 25"/>
          <p:cNvSpPr/>
          <p:nvPr/>
        </p:nvSpPr>
        <p:spPr>
          <a:xfrm>
            <a:off x="6903720" y="182422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31" name="Image 3" descr="C:\Users\liyon\AppData\Local\Temp\claude\C--Users-liyon-Personal-MCA-PROJECT-drug-project--2--drug-project-drugrecomendation\9da8fb70-ea4c-4cf2-953c-5bcd9131f7d4\scratchpad\pptgen\shots\06_user_doctorlis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46520" y="1993392"/>
            <a:ext cx="5120640" cy="41788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— Basic COCOMO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classified as an Organic-type system per Boehm's COCOMO model — small team, well-understood problem domain. Applying the Basic COCOMO formulas to the application's own measured source size gives: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source size (Python)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4474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= 2.4 × (KLOC)^1.05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= 2.5 × (Effort)^0.38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400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 = Effort ÷ Schedule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700016"/>
            <a:ext cx="685800" cy="685800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23" name="Image 0" descr="C:\Users\liyon\AppData\Local\Temp\claude\C--Users-liyon-Personal-MCA-PROJECT-drug-project--2--drug-project-drugrecomendation\9da8fb70-ea4c-4cf2-953c-5bcd9131f7d4\scratchpad\pptgen\icons\money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554" y="4789170"/>
            <a:ext cx="507492" cy="5074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83080" y="4645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Monetary Cost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783080" y="498348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software licensing cost — the stack (Python, Django, MySQL) is entirely free &amp; open-source. Only depreciation on existing development hardware applies, per the report's Economic Feasibility analysis.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943600" cy="5943600"/>
          </a:xfrm>
          <a:prstGeom prst="ellipse">
            <a:avLst/>
          </a:prstGeom>
          <a:solidFill>
            <a:srgbClr val="0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5486400" cy="5486400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Future Scope &amp; 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PERFORMED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8" name="Image 0" descr="C:\Users\liyon\AppData\Local\Temp\claude\C--Users-liyon-Personal-MCA-PROJECT-drug-project--2--drug-project-drugrecomendation\9da8fb70-ea4c-4cf2-953c-5bcd9131f7d4\scratchpad\pptgen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2142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30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view tested in isolation during coding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12" name="Image 1" descr="C:\Users\liyon\AppData\Local\Temp\claude\C--Users-liyon-Personal-MCA-PROJECT-drug-project--2--drug-project-drugrecomendation\9da8fb70-ea4c-4cf2-953c-5bcd9131f7d4\scratchpad\pptgen\icons\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99146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admin, company &amp; doctor modules combined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16" name="Image 2" descr="C:\Users\liyon\AppData\Local\Temp\claude\C--Users-liyon-Personal-MCA-PROJECT-drug-project--2--drug-project-drugrecomendation\9da8fb70-ea4c-4cf2-953c-5bcd9131f7d4\scratchpad\pptgen\icons\shield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7687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685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Recovery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80160" y="3950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session and failure-recovery checks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63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214884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21" name="Image 3" descr="C:\Users\liyon\AppData\Local\Temp\claude\C--Users-liyon-Personal-MCA-PROJECT-drug-project--2--drug-project-drugrecomendation\9da8fb70-ea4c-4cf2-953c-5bcd9131f7d4\scratchpad\pptgen\icons\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020" y="221422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130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ML Personalisation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individual patient preference over time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63640" y="292608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25" name="Image 4" descr="C:\Users\liyon\AppData\Local\Temp\claude\C--Users-liyon-Personal-MCA-PROJECT-drug-project--2--drug-project-drugrecomendation\9da8fb70-ea4c-4cf2-953c-5bcd9131f7d4\scratchpad\pptgen\icons\c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020" y="2991460"/>
            <a:ext cx="372161" cy="3721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Chatbot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90372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automated support alongside live doctors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29" name="Image 5" descr="C:\Users\liyon\AppData\Local\Temp\claude\C--Users-liyon-Personal-MCA-PROJECT-drug-project--2--drug-project-drugrecomendation\9da8fb70-ea4c-4cf2-953c-5bcd9131f7d4\scratchpad\pptgen\icons\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020" y="3768700"/>
            <a:ext cx="372161" cy="37216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03720" y="3685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E-Pharmacy Integration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903720" y="3950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ordering directly from a recommendation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12700">
            <a:solidFill>
              <a:srgbClr val="24486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40080" y="4892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Drug Recommendation System demonstrates a working, role-based healthcare platform that turns unstructured patient reviews into ranked, actionable medicine recommendations — while keeping a real doctor one chat away.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5" name="Text 27"/>
          <p:cNvSpPr/>
          <p:nvPr/>
        </p:nvSpPr>
        <p:spPr>
          <a:xfrm>
            <a:off x="64008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2026-08-17T22:19:22Z</dcterms:created>
  <dcterms:modified xsi:type="dcterms:W3CDTF">2026-08-17T22:19:22Z</dcterms:modified>
</cp:coreProperties>
</file>